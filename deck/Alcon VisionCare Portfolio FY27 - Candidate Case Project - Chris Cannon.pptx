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Option A: Tryptyr</c:v>
                </c:pt>
              </c:strCache>
            </c:strRef>
          </c:tx>
          <c:spPr>
            <a:solidFill>
              <a:srgbClr val="0079C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Downside</c:v>
                </c:pt>
                <c:pt idx="1">
                  <c:v>Base</c:v>
                </c:pt>
                <c:pt idx="2">
                  <c:v>Upside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0.25600000000000001</c:v>
                </c:pt>
                <c:pt idx="1">
                  <c:v>0.58899999999999997</c:v>
                </c:pt>
                <c:pt idx="2">
                  <c:v>1.006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34-4E88-958A-1A87036DEF7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Option B: Lens Expansion</c:v>
                </c:pt>
              </c:strCache>
            </c:strRef>
          </c:tx>
          <c:spPr>
            <a:solidFill>
              <a:srgbClr val="C17A1E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Downside</c:v>
                </c:pt>
                <c:pt idx="1">
                  <c:v>Base</c:v>
                </c:pt>
                <c:pt idx="2">
                  <c:v>Upside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3.4000000000000002E-2</c:v>
                </c:pt>
                <c:pt idx="1">
                  <c:v>0.10199999999999999</c:v>
                </c:pt>
                <c:pt idx="2">
                  <c:v>0.20300000000000001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134-4E88-958A-1A87036DEF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A5A7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C4666"/>
              </a:solidFill>
              <a:prstDash val="solid"/>
              <a:round/>
            </a:ln>
          </c:spPr>
        </c:majorGridlines>
        <c:numFmt formatCode="&quot;$&quot;0.00" sourceLinked="0"/>
        <c:majorTickMark val="out"/>
        <c:minorTickMark val="none"/>
        <c:tickLblPos val="nextTo"/>
        <c:spPr>
          <a:ln w="12700" cap="flat">
            <a:solidFill>
              <a:srgbClr val="3A5A7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2A4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A2A4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3077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5B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Care Franchise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FY27 Incremental Investment Portfolio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880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A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two independent growth opportunities for incremental commercial investment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0"/>
            <a:ext cx="5029200" cy="1554480"/>
          </a:xfrm>
          <a:prstGeom prst="roundRect">
            <a:avLst>
              <a:gd name="adj" fmla="val 4706"/>
            </a:avLst>
          </a:prstGeom>
          <a:solidFill>
            <a:srgbClr val="0F3A60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148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4041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4617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Tryptyr Commercial Acceleration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49834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Dry-eye disease market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26480" y="3840480"/>
            <a:ext cx="5029200" cy="1554480"/>
          </a:xfrm>
          <a:prstGeom prst="roundRect">
            <a:avLst>
              <a:gd name="adj" fmla="val 4706"/>
            </a:avLst>
          </a:prstGeom>
          <a:solidFill>
            <a:srgbClr val="0F3A60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1148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4041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00800" y="4617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Lens Parameter Expansion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00800" y="49834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Toric / astigmatism segment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Chris Cannon  |  Senior Manager, Global Business Strategy &amp; Planning — Candidate Case Study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Care Franchise leadership has incremental FY27 investment capacity. Two real, current opportunities are evaluated on their own merits.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EAF3FA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9280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783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Independent, not mutually exclusive: </a:t>
            </a:r>
            <a:r>
              <a:rPr lang="en-US" sz="14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option is evaluated against its own do-nothing baseline. This is a sequencing and prioritization exercise — not a single-winner decision.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788920"/>
            <a:ext cx="521208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D8E4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40080" y="2788920"/>
            <a:ext cx="5212080" cy="777240"/>
          </a:xfrm>
          <a:prstGeom prst="roundRect">
            <a:avLst>
              <a:gd name="adj" fmla="val 8235"/>
            </a:avLst>
          </a:prstGeom>
          <a:solidFill>
            <a:srgbClr val="0079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0080" y="3200400"/>
            <a:ext cx="5212080" cy="365760"/>
          </a:xfrm>
          <a:prstGeom prst="rect">
            <a:avLst/>
          </a:prstGeom>
          <a:solidFill>
            <a:srgbClr val="0079C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95351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9077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A: Tryptyr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463040" y="32095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acceleration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960120" y="3749040"/>
            <a:ext cx="45720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sales force / DTC investment to accelerate dry-eye share capture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First-in-class TRPM8-receptor mechanism, US launch Q3 2025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 field: Xiidra, Restasis, Cequa, Miebo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year patent-protected window already running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309360" y="2788920"/>
            <a:ext cx="521208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D8E4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309360" y="2788920"/>
            <a:ext cx="5212080" cy="777240"/>
          </a:xfrm>
          <a:prstGeom prst="roundRect">
            <a:avLst>
              <a:gd name="adj" fmla="val 8235"/>
            </a:avLst>
          </a:prstGeom>
          <a:solidFill>
            <a:srgbClr val="C17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309360" y="3200400"/>
            <a:ext cx="5212080" cy="365760"/>
          </a:xfrm>
          <a:prstGeom prst="rect">
            <a:avLst/>
          </a:prstGeom>
          <a:solidFill>
            <a:srgbClr val="C17A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2953512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132320" y="29077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B: Lens Expansion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7132320" y="32095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range extension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629400" y="3749040"/>
            <a:ext cx="45720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ECP education / marketing to extend toric parameter ranges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Leverages PRECISION1 / TOTAL30 — existing trusted franchise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first-fit success rate in trials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prescribing behavior required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Alcon Vision Care Q1 2026 results; project context materials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9C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432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5603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A: Tryptyr Commercial Acceleration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A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Dry-eye disease market | 5-year NPV at 9% discount rate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3291840" cy="1188720"/>
          </a:xfrm>
          <a:prstGeom prst="roundRect">
            <a:avLst>
              <a:gd name="adj" fmla="val 5385"/>
            </a:avLst>
          </a:prstGeom>
          <a:solidFill>
            <a:srgbClr val="F4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14356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$0.256B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640080" y="2103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 NPV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51960" y="1325880"/>
            <a:ext cx="3291840" cy="1188720"/>
          </a:xfrm>
          <a:prstGeom prst="roundRect">
            <a:avLst>
              <a:gd name="adj" fmla="val 5385"/>
            </a:avLst>
          </a:prstGeom>
          <a:solidFill>
            <a:srgbClr val="EAF3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251960" y="14356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$0.589B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251960" y="2103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NPV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863840" y="1325880"/>
            <a:ext cx="3291840" cy="1188720"/>
          </a:xfrm>
          <a:prstGeom prst="roundRect">
            <a:avLst>
              <a:gd name="adj" fmla="val 5385"/>
            </a:avLst>
          </a:prstGeom>
          <a:solidFill>
            <a:srgbClr val="F4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863840" y="14356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$1.006B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7863840" y="2103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 NPV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" y="2788920"/>
            <a:ext cx="5212080" cy="3383280"/>
          </a:xfrm>
          <a:prstGeom prst="roundRect">
            <a:avLst>
              <a:gd name="adj" fmla="val 1892"/>
            </a:avLst>
          </a:prstGeom>
          <a:solidFill>
            <a:srgbClr val="FAFCFD"/>
          </a:solidFill>
          <a:ln w="12700">
            <a:solidFill>
              <a:srgbClr val="D8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4400" y="2971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14400" y="3429000"/>
            <a:ext cx="46634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share of the $7.1B global DED market (growing 6.6% CAGR to $11.1B by 2033); Base case 5% peak share, reached via a smoothed 5-year ramp (15/50/85/100/100%)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spend: 22.5% of incremental revenue — specialty pharma S&amp;M benchmark, higher than Option B given new prescribing behavior required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urgency: patent-protected window (5–7 yrs, est.) already running since Q3 2025 launch — cost of delay is real and compounding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309360" y="2788920"/>
            <a:ext cx="5212080" cy="3383280"/>
          </a:xfrm>
          <a:prstGeom prst="roundRect">
            <a:avLst>
              <a:gd name="adj" fmla="val 1892"/>
            </a:avLst>
          </a:prstGeom>
          <a:solidFill>
            <a:srgbClr val="FAFCFD"/>
          </a:solidFill>
          <a:ln w="12700">
            <a:solidFill>
              <a:srgbClr val="D8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583680" y="2971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Addressed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583680" y="3429000"/>
            <a:ext cx="46634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 of trial patients reported instillation-site pain — but &lt;1% discontinued therapy because of it (Alcon prescribing information / COMET trial data)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is real but largely manageable, not a major adoption-killing risk — not separately modeled as a scenario toggle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Cannibalization risk versus Alcon's own OTC line (Systane) checked and found minimal: Tryptyr is Alcon's first prescription pharmaceutical, mechanistically distinct (TRPM8 agonist) and positioned as complementary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Project context materials; Alcon prescribing information / COMET trial data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17A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432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5603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B: Contact Lens Parameter Expansion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CE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Toric / astigmatism segment | 5-year NPV at 9% discount rate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3291840" cy="1188720"/>
          </a:xfrm>
          <a:prstGeom prst="roundRect">
            <a:avLst>
              <a:gd name="adj" fmla="val 5385"/>
            </a:avLst>
          </a:prstGeom>
          <a:solidFill>
            <a:srgbClr val="FBF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14356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$0.034B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640080" y="2103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 NPV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51960" y="1325880"/>
            <a:ext cx="3291840" cy="1188720"/>
          </a:xfrm>
          <a:prstGeom prst="roundRect">
            <a:avLst>
              <a:gd name="adj" fmla="val 5385"/>
            </a:avLst>
          </a:prstGeom>
          <a:solidFill>
            <a:srgbClr val="F7E8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251960" y="14356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$0.102B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251960" y="2103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NPV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863840" y="1325880"/>
            <a:ext cx="3291840" cy="1188720"/>
          </a:xfrm>
          <a:prstGeom prst="roundRect">
            <a:avLst>
              <a:gd name="adj" fmla="val 5385"/>
            </a:avLst>
          </a:prstGeom>
          <a:solidFill>
            <a:srgbClr val="FBF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863840" y="14356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$0.203B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7863840" y="2103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 NPV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" y="2788920"/>
            <a:ext cx="5212080" cy="3383280"/>
          </a:xfrm>
          <a:prstGeom prst="roundRect">
            <a:avLst>
              <a:gd name="adj" fmla="val 1892"/>
            </a:avLst>
          </a:prstGeom>
          <a:solidFill>
            <a:srgbClr val="FAFAF8"/>
          </a:solidFill>
          <a:ln w="12700">
            <a:solidFill>
              <a:srgbClr val="E8D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4400" y="2971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14400" y="3429000"/>
            <a:ext cx="46634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share-of-segment gain (+0.75pts Base) within the $4.4B toric segment (4.8% CAGR) — modest by design, not a claim on the full 41%-to-10% prevalence gap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realistic share sources: (1) astigmatic patients underserved by existing toric options who may finally find a fit (99% first-fit success), and (2) comfort-driven switching from current toric wearers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spend: 12.5% of incremental revenue — lower than Option A, leveraging existing ECP relationships and trusted franchise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309360" y="2788920"/>
            <a:ext cx="5212080" cy="3383280"/>
          </a:xfrm>
          <a:prstGeom prst="roundRect">
            <a:avLst>
              <a:gd name="adj" fmla="val 1892"/>
            </a:avLst>
          </a:prstGeom>
          <a:solidFill>
            <a:srgbClr val="FAFAF8"/>
          </a:solidFill>
          <a:ln w="12700">
            <a:solidFill>
              <a:srgbClr val="E8D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583680" y="2971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Lower Risk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583680" y="3429000"/>
            <a:ext cx="46634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prescribing behavior — extends an already-trusted fitting relationship rather than requiring a new clinical decision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Near-immediate traction: faster ramp than Option A, ceiling reached by Year 2–3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cannibalization risk against Alcon's existing toric SKUs — segment-share gain captures both new-fit and competitive switching, already conservatively sized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Project context materials; toric segment sizing per industry data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Sequencing &amp; Funding Recommendation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5212080" cy="1371600"/>
          </a:xfrm>
          <a:prstGeom prst="roundRect">
            <a:avLst>
              <a:gd name="adj" fmla="val 4667"/>
            </a:avLst>
          </a:prstGeom>
          <a:solidFill>
            <a:srgbClr val="0F3A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A: Tryptyr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6733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Attractiveness: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Medium-High (large, fast-growing, but tolerability + competitive field)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Right-to-Win: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(new prescribing behavior; strong patent defensibility)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143000"/>
            <a:ext cx="5212080" cy="1371600"/>
          </a:xfrm>
          <a:prstGeom prst="roundRect">
            <a:avLst>
              <a:gd name="adj" fmla="val 4667"/>
            </a:avLst>
          </a:prstGeom>
          <a:solidFill>
            <a:srgbClr val="0F3A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0" y="12801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C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B: Lens Expansion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6733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Attractiveness: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Low-Medium (mature, slow-growing, saturated)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2057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Right-to-Win: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(existing relationships, minimal execution risk)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NPV by Scenario ($B)</a:t>
            </a:r>
            <a:endParaRPr lang="en-US" sz="14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640080" y="3108960"/>
          <a:ext cx="5486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Shape 10"/>
          <p:cNvSpPr/>
          <p:nvPr/>
        </p:nvSpPr>
        <p:spPr>
          <a:xfrm>
            <a:off x="6400800" y="2743200"/>
            <a:ext cx="5148072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97180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78040" y="2990088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675120" y="3474720"/>
            <a:ext cx="45994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both.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Independent, NPV-positive across every scenario including Downside. Pursue in parallel starting FY27.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675120" y="4315968"/>
            <a:ext cx="4599432" cy="0"/>
          </a:xfrm>
          <a:prstGeom prst="line">
            <a:avLst/>
          </a:prstGeom>
          <a:noFill/>
          <a:ln w="12700">
            <a:solidFill>
              <a:srgbClr val="E0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675120" y="4462272"/>
            <a:ext cx="459943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capacity-constrained: prioritize Option A first.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delay outweighs ease of execution — Tryptyr's patent clock erodes regardless of investment timing; Option B's opportunity is durable and does not decay on a timeline.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675120" y="5349240"/>
            <a:ext cx="45994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Right-to-Win favors B's ease — cost-of-delay favors A's urgency. Under a binding constraint, urgency wins.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40080" y="60807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options NPV-positive across full tested sensitivity range — no scenario combination produces a loss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436" y="246888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29184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0" y="40690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model detail — assumptions, NPV build, framework scoring, and sensitivity analysis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Assumptions Summary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1234440" y="5669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A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Cover_Assumptions tab — sourced inputs and scenario toggles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607040" y="320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11430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Structural Assumptions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146304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horizon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years, FY27 start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 incremental window, apples-to-apples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rate (WACC proxy)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Large-cap healthcare/medtech benchmark (8–10%)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Do-nothing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Organic trajectory, not zero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Isolates incremental investment 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40080" y="31546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9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— Tryptyr</a:t>
            </a:r>
            <a:endParaRPr lang="en-US" sz="14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520440"/>
          <a:ext cx="5212080" cy="173736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/ Down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share, $7.1B DED mkt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7.5% / 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Organic (do-nothing) peak share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Patent window (yrs, est.)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spend ratio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6309360" y="31546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— Lens Expansion</a:t>
            </a:r>
            <a:endParaRPr lang="en-US" sz="14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3520440"/>
          <a:ext cx="5212080" cy="173736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/ Down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A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Share-of-toric gain, $4.4B segment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1.5pt / 0.25pt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Alcon's current toric share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Toric segment CAGR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spend ratio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Shape 7"/>
          <p:cNvSpPr/>
          <p:nvPr/>
        </p:nvSpPr>
        <p:spPr>
          <a:xfrm>
            <a:off x="640080" y="562356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EAF3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8"/>
          <p:cNvSpPr/>
          <p:nvPr/>
        </p:nvSpPr>
        <p:spPr>
          <a:xfrm>
            <a:off x="914400" y="57150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pivot: </a:t>
            </a: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B's opportunity was revised from a naive 41%-to-10% prevalence-gap framing down to a conservative share-of-segment-gain basis, after toric was found to be a mature, competitively saturated $4.4B category (4.8% CAGR) rather than open white space.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Attractiveness &amp; Right-to-Win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1234440" y="5669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A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Portfolio_Comparison tab — structured framework scoring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607040" y="320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43000"/>
          <a:ext cx="10881360" cy="3785616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A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A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A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Attractiveness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size &amp; growth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Competitive intensity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Profitability / margin potential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Medium-High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durability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A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A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capabilities / brand strength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 / ECP relationships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risk / complexity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Medium-Low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Defensibility (patent / exclusivity)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40080" y="507492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EAF3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5193792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offers a larger, faster-growing opportunity but requires building new prescriber trust/behavior in a moderately competitive field. Option B offers a smaller, more mature opportunity but with near-ideal execution conditions — though without Option A's patent-protected exclusivity once share is won.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9C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A — Model Detail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1234440" y="5669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A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Option_A_Tryptyr tab — revenue build and NPV chain (Base case)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607040" y="320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881360" cy="3072384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Size ($B)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 Case Revenue ($B)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$0.343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$0.430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$0.458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Do-Nothing Revenue ($B)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Incremental Revenue ($B)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Spend ($B)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Incremental CF ($B)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 of Net Incremental CF ($B)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40080" y="4434840"/>
            <a:ext cx="5212080" cy="1371600"/>
          </a:xfrm>
          <a:prstGeom prst="roundRect">
            <a:avLst>
              <a:gd name="adj" fmla="val 4667"/>
            </a:avLst>
          </a:prstGeom>
          <a:solidFill>
            <a:srgbClr val="EAF3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914400" y="4572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NPV (Base)</a:t>
            </a:r>
            <a:endParaRPr lang="en-US" sz="1300" dirty="0"/>
          </a:p>
        </p:txBody>
      </p:sp>
      <p:sp>
        <p:nvSpPr>
          <p:cNvPr id="7" name="Text 6"/>
          <p:cNvSpPr/>
          <p:nvPr/>
        </p:nvSpPr>
        <p:spPr>
          <a:xfrm>
            <a:off x="914400" y="4892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79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$0.589B</a:t>
            </a:r>
            <a:endParaRPr lang="en-US" sz="3000" dirty="0"/>
          </a:p>
        </p:txBody>
      </p:sp>
      <p:sp>
        <p:nvSpPr>
          <p:cNvPr id="11" name="Shape 7"/>
          <p:cNvSpPr/>
          <p:nvPr/>
        </p:nvSpPr>
        <p:spPr>
          <a:xfrm>
            <a:off x="6309360" y="4434840"/>
            <a:ext cx="5212080" cy="1371600"/>
          </a:xfrm>
          <a:prstGeom prst="roundRect">
            <a:avLst>
              <a:gd name="adj" fmla="val 4667"/>
            </a:avLst>
          </a:prstGeom>
          <a:solidFill>
            <a:srgbClr val="FAFCFD"/>
          </a:solidFill>
          <a:ln w="12700">
            <a:solidFill>
              <a:srgbClr val="D8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583680" y="452628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notes: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grown at 6.6% CAGR (not held flat). Do-nothing peak share (2%) deliberately set below Downside scenario (3%) to preserve non-zero incremental benefit in every case. Cost = ratio x incremental revenue only.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Discounted payback (~Year 1 in every scenario) is not a meaningful differentiator here — an artifact of modeling cost as a pure % of revenue with no fixed launch outlay, not a finding about investment risk. See model notes.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C17A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B — Model Detail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1234440" y="5669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A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Option_B_LensExpansion tab — revenue build and NPV chain (Base case)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607040" y="320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881360" cy="3072384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Toric Segment Size ($B)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 Case Revenue ($B)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$0.805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$0.876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$0.928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$0.965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$0.999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Do-Nothing Revenue ($B)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$0.792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$0.830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$0.869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$0.911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$0.955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Incremental Revenue ($B)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Spend ($B)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Incremental CF ($B)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 of Net Incremental CF ($B)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40080" y="4434840"/>
            <a:ext cx="5212080" cy="1371600"/>
          </a:xfrm>
          <a:prstGeom prst="roundRect">
            <a:avLst>
              <a:gd name="adj" fmla="val 4667"/>
            </a:avLst>
          </a:prstGeom>
          <a:solidFill>
            <a:srgbClr val="F7E8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914400" y="4572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NPV (Base)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914400" y="4892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1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$0.102B</a:t>
            </a:r>
            <a:endParaRPr lang="en-US" sz="3000" dirty="0"/>
          </a:p>
        </p:txBody>
      </p:sp>
      <p:sp>
        <p:nvSpPr>
          <p:cNvPr id="7" name="Shape 7"/>
          <p:cNvSpPr/>
          <p:nvPr/>
        </p:nvSpPr>
        <p:spPr>
          <a:xfrm>
            <a:off x="6309360" y="4434840"/>
            <a:ext cx="5212080" cy="1371600"/>
          </a:xfrm>
          <a:prstGeom prst="roundRect">
            <a:avLst>
              <a:gd name="adj" fmla="val 4667"/>
            </a:avLst>
          </a:prstGeom>
          <a:solidFill>
            <a:srgbClr val="FAFAF8"/>
          </a:solidFill>
          <a:ln w="12700">
            <a:solidFill>
              <a:srgbClr val="E8D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583680" y="452628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notes: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Invest and Do-Nothing rows built on a total-revenue basis (segment x share) so the subtraction correctly isolates incremental gain — not a direct revenue-vs-gain comparison.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Discounted payback (~Year 1 in every scenario) is not a meaningful differentiator here, for the same structural reason as Option A. See model notes.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9C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A — Sensitivity Analysis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1234440" y="5669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A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($B) vs. Peak Share x Commercial Spend Ratio — 10x10 grid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607040" y="320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881360" cy="4224528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 %  \  Peak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$0.297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9D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$0.394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BD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$0.491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E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$0.588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$0.684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$0.781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C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$0.878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3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$0.975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DA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$1.071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D0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$1.168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C7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9A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$0.383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A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$0.477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9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$0.571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$0.665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$0.759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$0.853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5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$0.948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C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D3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$1.136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A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97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$0.372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B6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$0.463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$0.555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$0.646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$0.738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$0.829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8D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$0.921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F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D6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$1.103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CD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$0.272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95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$0.361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B2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$0.450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0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$0.539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$0.627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$0.716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$0.805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A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$0.893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$0.982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9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$1.071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D0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92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$0.350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A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$0.436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C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$0.522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$0.608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$0.694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$0.780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D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$0.866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E4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$0.952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C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$1.038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D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$0.256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8F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$0.339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AB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$0.423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7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$0.506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3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$0.589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225" cap="flat" cmpd="sng" algn="ctr">
                      <a:solidFill>
                        <a:srgbClr val="0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$0.673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2225" cap="flat" cmpd="sng" algn="ctr">
                      <a:solidFill>
                        <a:srgbClr val="0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$0.756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$0.839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7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$0.923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F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8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$0.328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A7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$0.409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2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$0.490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E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$0.570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225" cap="flat" cmpd="sng" algn="ctr">
                      <a:solidFill>
                        <a:srgbClr val="0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$0.651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$0.732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$0.812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9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$0.893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$0.974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DA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8A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$0.317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A4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$0.395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BEB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$0.473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8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$0.551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$0.629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$0.707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$0.785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C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$0.863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E5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$0.941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D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87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$0.306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A0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$0.382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9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$0.457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3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$0.532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$0.608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$0.683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$0.758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$0.833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7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$0.909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E0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4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$0.295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9C9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$0.368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B5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$0.441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D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$0.513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$0.586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$0.658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$0.731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$0.804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A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$0.876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40080" y="6172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</a:t>
            </a:r>
            <a:r>
              <a:rPr lang="en-US" sz="10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(5.0% peak share, 22.5% spend ratio) anchors the color scale at $0.589B — outlined cell. Green = outperforms Base; red = underperforms. Grid bounded exactly by Downside (3%) and Upside (7.5%) peak-share scenarios.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C17A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B — Sensitivity Analysis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1234440" y="5669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A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($B) vs. Share-of-Segment Gain x Commercial Spend Ratio — 6x6 grid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607040" y="320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1371600"/>
          <a:ext cx="9233610" cy="35204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4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4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46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46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46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46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 %  \  Gain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8D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D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A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D8B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C7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8B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A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DB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CA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89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E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D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D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CC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87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3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225" cap="flat" cmpd="sng" algn="ctr">
                      <a:solidFill>
                        <a:srgbClr val="0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2225" cap="flat" cmpd="sng" algn="ctr">
                      <a:solidFill>
                        <a:srgbClr val="0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F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F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6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C0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225" cap="flat" cmpd="sng" algn="ctr">
                      <a:solidFill>
                        <a:srgbClr val="0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1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D2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4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BCB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D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</a:t>
            </a:r>
            <a:r>
              <a:rPr lang="en-US" sz="10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(0.75pt share gain, 12.5% spend ratio) anchors the color scale at $0.102B — outlined cell. Grid bounded exactly by Downside (0.25pt) and Upside (1.5pt) share-gain scenarios — fully within tested range, smaller scale reflects Option B's more conservative opportunity sizing.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2035</Words>
  <Application>Microsoft Office PowerPoint</Application>
  <PresentationFormat>Widescreen</PresentationFormat>
  <Paragraphs>463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 Care Franchise — FY27 Portfolio Investment Analysis</dc:title>
  <dc:subject>PptxGenJS Presentation</dc:subject>
  <dc:creator>Chris Cannon</dc:creator>
  <cp:lastModifiedBy>Chris Cannon</cp:lastModifiedBy>
  <cp:revision>1</cp:revision>
  <dcterms:created xsi:type="dcterms:W3CDTF">2026-06-29T17:11:21Z</dcterms:created>
  <dcterms:modified xsi:type="dcterms:W3CDTF">2026-06-29T17:28:46Z</dcterms:modified>
</cp:coreProperties>
</file>